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IBM Plex Sans" panose="020B0503050203000203" pitchFamily="34" charset="0"/>
      <p:regular r:id="rId13"/>
      <p:italic r:id="rId14"/>
    </p:embeddedFont>
    <p:embeddedFont>
      <p:font typeface="IBM Plex Sans Bold" panose="020B0803050203000203" charset="0"/>
      <p:regular r:id="rId15"/>
    </p:embeddedFont>
    <p:embeddedFont>
      <p:font typeface="Outfit Medium" panose="020B0604020202020204" charset="0"/>
      <p:regular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73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73204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CFDBFC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42" y="380181"/>
            <a:ext cx="3287241" cy="43830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25119" y="1602507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Expert Decision Replay Platform (EDRP)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3925119" y="2701082"/>
            <a:ext cx="4722763" cy="839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centralized platform for recording, reviewing, and learning from organizational decisions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CFDBFC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87" y="368424"/>
            <a:ext cx="3304952" cy="44066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25119" y="411733"/>
            <a:ext cx="4722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Decisions Are Made — Then Lost</a:t>
            </a:r>
            <a:endParaRPr lang="en-US" sz="24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25119" y="962025"/>
            <a:ext cx="4722763" cy="90755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120530" y="1100286"/>
            <a:ext cx="4389090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No Paper Trail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4120530" y="1359247"/>
            <a:ext cx="4389090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Critical decisions happen over chat, email, or verbal conversations — reasoning vanishes when people forget or leave.</a:t>
            </a:r>
            <a:endParaRPr lang="en-US" sz="9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25119" y="1978075"/>
            <a:ext cx="4722763" cy="90755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120530" y="2116336"/>
            <a:ext cx="4389090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Repeated Mistakes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4120530" y="2375297"/>
            <a:ext cx="4389090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Without recorded context, teams relitigate the same problems and make the same errors again and again.</a:t>
            </a:r>
            <a:endParaRPr lang="en-US" sz="9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25119" y="2994124"/>
            <a:ext cx="4722763" cy="90755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120530" y="3132386"/>
            <a:ext cx="4389090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Slow Onboarding</a:t>
            </a:r>
            <a:endParaRPr lang="en-US" sz="1200" dirty="0"/>
          </a:p>
        </p:txBody>
      </p:sp>
      <p:sp>
        <p:nvSpPr>
          <p:cNvPr id="13" name="Text 7"/>
          <p:cNvSpPr/>
          <p:nvPr/>
        </p:nvSpPr>
        <p:spPr>
          <a:xfrm>
            <a:off x="4120530" y="3391346"/>
            <a:ext cx="4389090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New hires have no way to understand why things are the way they are — institutional knowledge lives only in people's heads.</a:t>
            </a:r>
            <a:endParaRPr lang="en-US" sz="9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25119" y="4010174"/>
            <a:ext cx="4722763" cy="721519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4120530" y="4148435"/>
            <a:ext cx="4389090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No Accountability</a:t>
            </a:r>
            <a:endParaRPr lang="en-US" sz="1200" dirty="0"/>
          </a:p>
        </p:txBody>
      </p:sp>
      <p:sp>
        <p:nvSpPr>
          <p:cNvPr id="16" name="Text 9"/>
          <p:cNvSpPr/>
          <p:nvPr/>
        </p:nvSpPr>
        <p:spPr>
          <a:xfrm>
            <a:off x="4120530" y="4407396"/>
            <a:ext cx="4389090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audit trail means no way to trace who decided what, when, or why.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8236"/>
            <a:ext cx="8151763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What EDRP Does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96119" y="1072679"/>
            <a:ext cx="8151763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EDRP gives organizations a structured system to capture, review, approve, and search decisions — turning informal choices into institutional memory.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96119" y="1624757"/>
            <a:ext cx="2634183" cy="1492969"/>
          </a:xfrm>
          <a:prstGeom prst="roundRect">
            <a:avLst>
              <a:gd name="adj" fmla="val 8012"/>
            </a:avLst>
          </a:prstGeom>
          <a:solidFill>
            <a:srgbClr val="CFDBFC"/>
          </a:solidFill>
          <a:ln w="4763">
            <a:solidFill>
              <a:srgbClr val="B5C1E2"/>
            </a:solidFill>
            <a:prstDash val="solid"/>
          </a:ln>
          <a:effectLst>
            <a:outerShdw blurRad="101600" dist="16510" dir="2700000" algn="bl" rotWithShape="0">
              <a:srgbClr val="B5C1E2">
                <a:alpha val="10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33785" y="1762423"/>
            <a:ext cx="398711" cy="398711"/>
          </a:xfrm>
          <a:prstGeom prst="ellipse">
            <a:avLst/>
          </a:prstGeom>
          <a:solidFill>
            <a:srgbClr val="A2B9F9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3396" y="1872035"/>
            <a:ext cx="179412" cy="1794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33785" y="2285702"/>
            <a:ext cx="2358851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Structured Capture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33785" y="2568104"/>
            <a:ext cx="2358851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Problem statement, alternatives, and risk assessment per decision.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254871" y="1624757"/>
            <a:ext cx="2634183" cy="1492969"/>
          </a:xfrm>
          <a:prstGeom prst="roundRect">
            <a:avLst>
              <a:gd name="adj" fmla="val 8012"/>
            </a:avLst>
          </a:prstGeom>
          <a:solidFill>
            <a:srgbClr val="CFDBFC"/>
          </a:solidFill>
          <a:ln w="4763">
            <a:solidFill>
              <a:srgbClr val="B5C1E2"/>
            </a:solidFill>
            <a:prstDash val="solid"/>
          </a:ln>
          <a:effectLst>
            <a:outerShdw blurRad="101600" dist="16510" dir="2700000" algn="bl" rotWithShape="0">
              <a:srgbClr val="B5C1E2">
                <a:alpha val="10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392537" y="1762423"/>
            <a:ext cx="398711" cy="398711"/>
          </a:xfrm>
          <a:prstGeom prst="ellipse">
            <a:avLst/>
          </a:prstGeom>
          <a:solidFill>
            <a:srgbClr val="A2B9F9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02149" y="1872035"/>
            <a:ext cx="179412" cy="1794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392537" y="2285702"/>
            <a:ext cx="2358851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Approval Workflow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392537" y="2568104"/>
            <a:ext cx="2358851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Multi-level sequential review with SLA-based escalation.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013624" y="1624757"/>
            <a:ext cx="2634183" cy="1492969"/>
          </a:xfrm>
          <a:prstGeom prst="roundRect">
            <a:avLst>
              <a:gd name="adj" fmla="val 8012"/>
            </a:avLst>
          </a:prstGeom>
          <a:solidFill>
            <a:srgbClr val="CFDBFC"/>
          </a:solidFill>
          <a:ln w="4763">
            <a:solidFill>
              <a:srgbClr val="B5C1E2"/>
            </a:solidFill>
            <a:prstDash val="solid"/>
          </a:ln>
          <a:effectLst>
            <a:outerShdw blurRad="101600" dist="16510" dir="2700000" algn="bl" rotWithShape="0">
              <a:srgbClr val="B5C1E2">
                <a:alpha val="10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151290" y="1762423"/>
            <a:ext cx="398711" cy="398711"/>
          </a:xfrm>
          <a:prstGeom prst="ellipse">
            <a:avLst/>
          </a:prstGeom>
          <a:solidFill>
            <a:srgbClr val="A2B9F9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60902" y="1872035"/>
            <a:ext cx="179412" cy="17941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151290" y="2285702"/>
            <a:ext cx="2358851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Discussion Threads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151290" y="2568104"/>
            <a:ext cx="2358851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Contextual comments tied directly to each decision.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96119" y="3242295"/>
            <a:ext cx="4013522" cy="1492969"/>
          </a:xfrm>
          <a:prstGeom prst="roundRect">
            <a:avLst>
              <a:gd name="adj" fmla="val 8012"/>
            </a:avLst>
          </a:prstGeom>
          <a:solidFill>
            <a:srgbClr val="CFDBFC"/>
          </a:solidFill>
          <a:ln w="4763">
            <a:solidFill>
              <a:srgbClr val="B5C1E2"/>
            </a:solidFill>
            <a:prstDash val="solid"/>
          </a:ln>
          <a:effectLst>
            <a:outerShdw blurRad="101600" dist="16510" dir="2700000" algn="bl" rotWithShape="0">
              <a:srgbClr val="B5C1E2">
                <a:alpha val="10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33785" y="3379961"/>
            <a:ext cx="398711" cy="398711"/>
          </a:xfrm>
          <a:prstGeom prst="ellipse">
            <a:avLst/>
          </a:prstGeom>
          <a:solidFill>
            <a:srgbClr val="A2B9F9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3396" y="3489573"/>
            <a:ext cx="179412" cy="17941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33785" y="3903241"/>
            <a:ext cx="3738190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Version History &amp; Audit Logs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633785" y="4185642"/>
            <a:ext cx="3738190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Full change trail, tamper-evident and always accessible.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4634210" y="3242295"/>
            <a:ext cx="4013597" cy="1492969"/>
          </a:xfrm>
          <a:prstGeom prst="roundRect">
            <a:avLst>
              <a:gd name="adj" fmla="val 8012"/>
            </a:avLst>
          </a:prstGeom>
          <a:solidFill>
            <a:srgbClr val="CFDBFC"/>
          </a:solidFill>
          <a:ln w="4763">
            <a:solidFill>
              <a:srgbClr val="B5C1E2"/>
            </a:solidFill>
            <a:prstDash val="solid"/>
          </a:ln>
          <a:effectLst>
            <a:outerShdw blurRad="101600" dist="16510" dir="2700000" algn="bl" rotWithShape="0">
              <a:srgbClr val="B5C1E2">
                <a:alpha val="10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771876" y="3379961"/>
            <a:ext cx="398711" cy="398711"/>
          </a:xfrm>
          <a:prstGeom prst="ellipse">
            <a:avLst/>
          </a:prstGeom>
          <a:solidFill>
            <a:srgbClr val="A2B9F9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881488" y="3489573"/>
            <a:ext cx="179412" cy="17941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771876" y="3903241"/>
            <a:ext cx="3738265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Knowledge Repository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4771876" y="4185642"/>
            <a:ext cx="3738265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Approved decisions become searchable organizational memory.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5213"/>
            <a:ext cx="8151763" cy="408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Roles &amp; Access — Hierarchical, Multi-Tenant</a:t>
            </a:r>
            <a:endParaRPr lang="en-US" sz="25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119783"/>
            <a:ext cx="3492922" cy="349292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312593" y="1768153"/>
            <a:ext cx="4339977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Multi-Tenant Isolation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4312593" y="2092747"/>
            <a:ext cx="4339977" cy="9117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spcAft>
                <a:spcPts val="850"/>
              </a:spcAft>
              <a:buNone/>
            </a:pPr>
            <a:r>
              <a:rPr lang="en-US" sz="1000" b="1" dirty="0">
                <a:solidFill>
                  <a:srgbClr val="A2B9F9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Company (Tenant):</a:t>
            </a:r>
            <a:r>
              <a:rPr lang="en-US" sz="10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Fully isolated — data never crosses tenant boundaries.</a:t>
            </a:r>
            <a:endParaRPr lang="en-US" sz="10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A2B9F9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Groups:</a:t>
            </a:r>
            <a:r>
              <a:rPr lang="en-US" sz="10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Sub-units within a company, like GitHub Teams. Users belong to one or more groups.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312593" y="3112963"/>
            <a:ext cx="4339977" cy="9297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03200" indent="-203200" algn="l">
              <a:lnSpc>
                <a:spcPct val="128000"/>
              </a:lnSpc>
              <a:buSzPct val="100000"/>
              <a:buChar char="•"/>
            </a:pPr>
            <a:r>
              <a:rPr lang="en-US" sz="1000" b="1" dirty="0">
                <a:solidFill>
                  <a:srgbClr val="66666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Admin:</a:t>
            </a:r>
            <a:r>
              <a:rPr lang="en-US" sz="10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Full access across the entire company</a:t>
            </a:r>
            <a:endParaRPr lang="en-US" sz="1000" dirty="0"/>
          </a:p>
          <a:p>
            <a:pPr marL="203200" indent="-203200" algn="l">
              <a:lnSpc>
                <a:spcPct val="128000"/>
              </a:lnSpc>
              <a:buSzPct val="100000"/>
              <a:buChar char="•"/>
            </a:pPr>
            <a:r>
              <a:rPr lang="en-US" sz="1000" b="1" dirty="0">
                <a:solidFill>
                  <a:srgbClr val="66666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Manager:</a:t>
            </a:r>
            <a:r>
              <a:rPr lang="en-US" sz="10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Full access within their assigned groups</a:t>
            </a:r>
            <a:endParaRPr lang="en-US" sz="1000" dirty="0"/>
          </a:p>
          <a:p>
            <a:pPr marL="203200" indent="-203200" algn="l">
              <a:lnSpc>
                <a:spcPct val="128000"/>
              </a:lnSpc>
              <a:buSzPct val="100000"/>
              <a:buChar char="•"/>
            </a:pPr>
            <a:r>
              <a:rPr lang="en-US" sz="1000" b="1" dirty="0">
                <a:solidFill>
                  <a:srgbClr val="66666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Reviewer:</a:t>
            </a:r>
            <a:r>
              <a:rPr lang="en-US" sz="10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Can review and vote on decisions in their groups</a:t>
            </a:r>
            <a:endParaRPr lang="en-US" sz="1000" dirty="0"/>
          </a:p>
          <a:p>
            <a:pPr marL="203200" indent="-203200" algn="l">
              <a:lnSpc>
                <a:spcPct val="128000"/>
              </a:lnSpc>
              <a:buSzPct val="100000"/>
              <a:buChar char="•"/>
            </a:pPr>
            <a:r>
              <a:rPr lang="en-US" sz="1000" b="1" dirty="0">
                <a:solidFill>
                  <a:srgbClr val="66666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Employee:</a:t>
            </a:r>
            <a:r>
              <a:rPr lang="en-US" sz="10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Scoped to their groups only — create and view decisions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332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Decision Lifecycle Workflow</a:t>
            </a:r>
            <a:endParaRPr lang="en-US" sz="20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679" y="881583"/>
            <a:ext cx="8084567" cy="34862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73714" y="3706689"/>
            <a:ext cx="1834102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Archived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073714" y="2899685"/>
            <a:ext cx="1834102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Approved / Rejected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073714" y="2100832"/>
            <a:ext cx="1834102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Under Review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73714" y="1293827"/>
            <a:ext cx="1834102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Draft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96119" y="4457477"/>
            <a:ext cx="8151763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Each stage is connected by a clear handoff: employees submit, approvers act sequentially with SLA enforcement, and approved decisions are permanently indexed — never lost.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System Architecture</a:t>
            </a:r>
            <a:endParaRPr lang="en-US" sz="13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682154"/>
            <a:ext cx="7315200" cy="41148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96119" y="4876577"/>
            <a:ext cx="490612" cy="107603"/>
          </a:xfrm>
          <a:prstGeom prst="roundRect">
            <a:avLst>
              <a:gd name="adj" fmla="val 47430"/>
            </a:avLst>
          </a:prstGeom>
          <a:solidFill>
            <a:srgbClr val="CFDBFC"/>
          </a:solidFill>
          <a:ln/>
        </p:spPr>
      </p:sp>
      <p:sp>
        <p:nvSpPr>
          <p:cNvPr id="5" name="Text 2"/>
          <p:cNvSpPr/>
          <p:nvPr/>
        </p:nvSpPr>
        <p:spPr>
          <a:xfrm>
            <a:off x="538609" y="4897785"/>
            <a:ext cx="862831" cy="65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4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PRESENTATION</a:t>
            </a:r>
            <a:endParaRPr lang="en-US" sz="400" dirty="0"/>
          </a:p>
        </p:txBody>
      </p:sp>
      <p:sp>
        <p:nvSpPr>
          <p:cNvPr id="6" name="Text 3"/>
          <p:cNvSpPr/>
          <p:nvPr/>
        </p:nvSpPr>
        <p:spPr>
          <a:xfrm>
            <a:off x="496119" y="5023991"/>
            <a:ext cx="2365400" cy="68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React.js SPA</a:t>
            </a:r>
            <a:endParaRPr lang="en-US" sz="400" dirty="0"/>
          </a:p>
        </p:txBody>
      </p:sp>
      <p:sp>
        <p:nvSpPr>
          <p:cNvPr id="7" name="Shape 4"/>
          <p:cNvSpPr/>
          <p:nvPr/>
        </p:nvSpPr>
        <p:spPr>
          <a:xfrm>
            <a:off x="2582019" y="4876577"/>
            <a:ext cx="443508" cy="107603"/>
          </a:xfrm>
          <a:prstGeom prst="roundRect">
            <a:avLst>
              <a:gd name="adj" fmla="val 47430"/>
            </a:avLst>
          </a:prstGeom>
          <a:noFill/>
          <a:ln w="4763">
            <a:solidFill>
              <a:srgbClr val="A2B9F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624510" y="4897785"/>
            <a:ext cx="815727" cy="65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400" dirty="0">
                <a:solidFill>
                  <a:srgbClr val="A2B9F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APPLICATION</a:t>
            </a:r>
            <a:endParaRPr lang="en-US" sz="400" dirty="0"/>
          </a:p>
        </p:txBody>
      </p:sp>
      <p:sp>
        <p:nvSpPr>
          <p:cNvPr id="9" name="Text 6"/>
          <p:cNvSpPr/>
          <p:nvPr/>
        </p:nvSpPr>
        <p:spPr>
          <a:xfrm>
            <a:off x="2582019" y="5023991"/>
            <a:ext cx="2365400" cy="68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FastAPI · JWT · Redis</a:t>
            </a:r>
            <a:endParaRPr lang="en-US" sz="400" dirty="0"/>
          </a:p>
        </p:txBody>
      </p:sp>
      <p:sp>
        <p:nvSpPr>
          <p:cNvPr id="10" name="Shape 7"/>
          <p:cNvSpPr/>
          <p:nvPr/>
        </p:nvSpPr>
        <p:spPr>
          <a:xfrm>
            <a:off x="4667920" y="4876577"/>
            <a:ext cx="398785" cy="107603"/>
          </a:xfrm>
          <a:prstGeom prst="roundRect">
            <a:avLst>
              <a:gd name="adj" fmla="val 47430"/>
            </a:avLst>
          </a:prstGeom>
          <a:noFill/>
          <a:ln w="4763">
            <a:solidFill>
              <a:srgbClr val="A2B9F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10410" y="4897785"/>
            <a:ext cx="771004" cy="65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400" dirty="0">
                <a:solidFill>
                  <a:srgbClr val="A2B9F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LAYER</a:t>
            </a:r>
            <a:endParaRPr lang="en-US" sz="400" dirty="0"/>
          </a:p>
        </p:txBody>
      </p:sp>
      <p:sp>
        <p:nvSpPr>
          <p:cNvPr id="12" name="Text 9"/>
          <p:cNvSpPr/>
          <p:nvPr/>
        </p:nvSpPr>
        <p:spPr>
          <a:xfrm>
            <a:off x="4667920" y="5023991"/>
            <a:ext cx="2365400" cy="68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PostgreSQL · SQLAlchemy · Alembic</a:t>
            </a:r>
            <a:endParaRPr lang="en-US" sz="400" dirty="0"/>
          </a:p>
        </p:txBody>
      </p:sp>
      <p:sp>
        <p:nvSpPr>
          <p:cNvPr id="13" name="Shape 10"/>
          <p:cNvSpPr/>
          <p:nvPr/>
        </p:nvSpPr>
        <p:spPr>
          <a:xfrm>
            <a:off x="6753820" y="4876577"/>
            <a:ext cx="565621" cy="107603"/>
          </a:xfrm>
          <a:prstGeom prst="roundRect">
            <a:avLst>
              <a:gd name="adj" fmla="val 47430"/>
            </a:avLst>
          </a:prstGeom>
          <a:noFill/>
          <a:ln w="4763">
            <a:solidFill>
              <a:srgbClr val="A2B9F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796311" y="4897785"/>
            <a:ext cx="937840" cy="65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400" dirty="0">
                <a:solidFill>
                  <a:srgbClr val="A2B9F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INFRASTRUCTURE</a:t>
            </a:r>
            <a:endParaRPr lang="en-US" sz="400" dirty="0"/>
          </a:p>
        </p:txBody>
      </p:sp>
      <p:sp>
        <p:nvSpPr>
          <p:cNvPr id="15" name="Text 12"/>
          <p:cNvSpPr/>
          <p:nvPr/>
        </p:nvSpPr>
        <p:spPr>
          <a:xfrm>
            <a:off x="6753820" y="5023991"/>
            <a:ext cx="2365400" cy="68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Docker · Celery · Monitoring</a:t>
            </a:r>
            <a:endParaRPr lang="en-US" sz="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4320"/>
            <a:ext cx="8151763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What I've Built So Far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19683" y="1104379"/>
            <a:ext cx="7728198" cy="212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r>
              <a:rPr lang="en-US" sz="13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 Auth System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9683" y="1391543"/>
            <a:ext cx="7728198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JWT/OAuth2 login, Redis token blacklisting, Admin/Employee toggle — including circular import &amp; registration bug fixes.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9683" y="1892275"/>
            <a:ext cx="7728198" cy="212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r>
              <a:rPr lang="en-US" sz="13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 RBAC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9683" y="2179439"/>
            <a:ext cx="7728198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Role-based access control enforced across all protected routes.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9683" y="2680171"/>
            <a:ext cx="7728198" cy="212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r>
              <a:rPr lang="en-US" sz="13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 Decision Creation + Alternative Analysis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9683" y="2967335"/>
            <a:ext cx="7728198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Module fully functional end-to-end.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19683" y="3468067"/>
            <a:ext cx="7728198" cy="212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r>
              <a:rPr lang="en-US" sz="13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 Approval Engine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9683" y="3755231"/>
            <a:ext cx="7728198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Sequential multi-level logic, reject/request-changes handling, approval history preserved on resubmission.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19683" y="4255963"/>
            <a:ext cx="7728198" cy="212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🔄</a:t>
            </a:r>
            <a:r>
              <a:rPr lang="en-US" sz="13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 Multi-Tenant Redesign (Company/Group Isolation)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19683" y="4543127"/>
            <a:ext cx="7728198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 progress — proper data boundaries between organizations.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11807"/>
            <a:ext cx="8151763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Challenges Faced &amp; Fixed</a:t>
            </a:r>
            <a:endParaRPr lang="en-US" sz="2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208410"/>
            <a:ext cx="1884164" cy="22193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0895" y="1366986"/>
            <a:ext cx="1490811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Tenant Isolation Gaps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730895" y="1940421"/>
            <a:ext cx="1490811" cy="13287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Audit revealed endpoints skipping company/group checks → centralized access dependency added to enforce it uniformly.</a:t>
            </a:r>
            <a:endParaRPr lang="en-US" sz="10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17651" y="1208410"/>
            <a:ext cx="1884164" cy="221932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752427" y="1366986"/>
            <a:ext cx="1490811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Validation Mismatch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2752427" y="1940421"/>
            <a:ext cx="1490811" cy="1107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Frontend and backend disagreed on alternatives count rules → aligned both sides to the same schema.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46947" y="1208410"/>
            <a:ext cx="1884164" cy="244078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981724" y="1366986"/>
            <a:ext cx="1490811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Stuck "Save" Button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4981724" y="1940421"/>
            <a:ext cx="1490811" cy="1550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Stale frontend validation state disabled Save on the Alternatives form → moved validation to Submit step only, Save is now freeform.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68480" y="1208410"/>
            <a:ext cx="1884164" cy="244078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003256" y="1366986"/>
            <a:ext cx="1490811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Lost Approval History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7003256" y="1940421"/>
            <a:ext cx="1490811" cy="1107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Resubmission was deleting old approval rounds → fixed to preserve all historical rounds intact.</a:t>
            </a:r>
            <a:endParaRPr lang="en-US" sz="1050" dirty="0"/>
          </a:p>
        </p:txBody>
      </p:sp>
      <p:sp>
        <p:nvSpPr>
          <p:cNvPr id="17" name="Text 10"/>
          <p:cNvSpPr/>
          <p:nvPr/>
        </p:nvSpPr>
        <p:spPr>
          <a:xfrm>
            <a:off x="949598" y="4130353"/>
            <a:ext cx="7558757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11659"/>
            <a:ext cx="8151763" cy="394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What's Next</a:t>
            </a:r>
            <a:endParaRPr lang="en-US" sz="2450" dirty="0"/>
          </a:p>
        </p:txBody>
      </p:sp>
      <p:sp>
        <p:nvSpPr>
          <p:cNvPr id="3" name="Shape 1"/>
          <p:cNvSpPr/>
          <p:nvPr/>
        </p:nvSpPr>
        <p:spPr>
          <a:xfrm>
            <a:off x="4564856" y="1031081"/>
            <a:ext cx="14288" cy="3700686"/>
          </a:xfrm>
          <a:prstGeom prst="roundRect">
            <a:avLst>
              <a:gd name="adj" fmla="val 795320"/>
            </a:avLst>
          </a:prstGeom>
          <a:solidFill>
            <a:srgbClr val="B5C1E2"/>
          </a:solidFill>
          <a:ln/>
        </p:spPr>
      </p:sp>
      <p:sp>
        <p:nvSpPr>
          <p:cNvPr id="4" name="Shape 2"/>
          <p:cNvSpPr/>
          <p:nvPr/>
        </p:nvSpPr>
        <p:spPr>
          <a:xfrm>
            <a:off x="4065501" y="1165920"/>
            <a:ext cx="378768" cy="14288"/>
          </a:xfrm>
          <a:prstGeom prst="roundRect">
            <a:avLst>
              <a:gd name="adj" fmla="val 795320"/>
            </a:avLst>
          </a:prstGeom>
          <a:solidFill>
            <a:srgbClr val="B5C1E2"/>
          </a:solidFill>
          <a:ln/>
        </p:spPr>
      </p:sp>
      <p:sp>
        <p:nvSpPr>
          <p:cNvPr id="5" name="Shape 3"/>
          <p:cNvSpPr/>
          <p:nvPr/>
        </p:nvSpPr>
        <p:spPr>
          <a:xfrm>
            <a:off x="4429981" y="1031081"/>
            <a:ext cx="284038" cy="284038"/>
          </a:xfrm>
          <a:prstGeom prst="roundRect">
            <a:avLst>
              <a:gd name="adj" fmla="val 40007"/>
            </a:avLst>
          </a:prstGeom>
          <a:solidFill>
            <a:srgbClr val="CFDBFC"/>
          </a:solidFill>
          <a:ln w="4763">
            <a:solidFill>
              <a:srgbClr val="B5C1E2"/>
            </a:solidFill>
            <a:prstDash val="solid"/>
          </a:ln>
          <a:effectLst>
            <a:outerShdw blurRad="101600" dist="16510" dir="2700000" algn="bl" rotWithShape="0">
              <a:srgbClr val="B5C1E2">
                <a:alpha val="10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477271" y="1054708"/>
            <a:ext cx="189384" cy="2367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1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496119" y="1074465"/>
            <a:ext cx="3444627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🔄</a:t>
            </a:r>
            <a:r>
              <a:rPr lang="en-US" sz="12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 Company/Group Switcher UI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96119" y="1339155"/>
            <a:ext cx="3444627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26000"/>
              </a:lnSpc>
              <a:buNone/>
            </a:pPr>
            <a:r>
              <a:rPr lang="en-US" sz="9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Let users navigate between tenants seamlessly within the app.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99732" y="1895773"/>
            <a:ext cx="378768" cy="14288"/>
          </a:xfrm>
          <a:prstGeom prst="roundRect">
            <a:avLst>
              <a:gd name="adj" fmla="val 795320"/>
            </a:avLst>
          </a:prstGeom>
          <a:solidFill>
            <a:srgbClr val="B5C1E2"/>
          </a:solidFill>
          <a:ln/>
        </p:spPr>
      </p:sp>
      <p:sp>
        <p:nvSpPr>
          <p:cNvPr id="10" name="Shape 8"/>
          <p:cNvSpPr/>
          <p:nvPr/>
        </p:nvSpPr>
        <p:spPr>
          <a:xfrm>
            <a:off x="4429981" y="1760934"/>
            <a:ext cx="284038" cy="284038"/>
          </a:xfrm>
          <a:prstGeom prst="roundRect">
            <a:avLst>
              <a:gd name="adj" fmla="val 40007"/>
            </a:avLst>
          </a:prstGeom>
          <a:solidFill>
            <a:srgbClr val="CFDBFC"/>
          </a:solidFill>
          <a:ln w="4763">
            <a:solidFill>
              <a:srgbClr val="B5C1E2"/>
            </a:solidFill>
            <a:prstDash val="solid"/>
          </a:ln>
          <a:effectLst>
            <a:outerShdw blurRad="101600" dist="16510" dir="2700000" algn="bl" rotWithShape="0">
              <a:srgbClr val="B5C1E2">
                <a:alpha val="10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477271" y="1784561"/>
            <a:ext cx="189384" cy="2367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2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5203254" y="1804318"/>
            <a:ext cx="3444627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📬</a:t>
            </a:r>
            <a:r>
              <a:rPr lang="en-US" sz="12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 Notifications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203254" y="2069009"/>
            <a:ext cx="3444627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Email &amp; SMS alerts for approvals and SLA breaches.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065501" y="2534915"/>
            <a:ext cx="378768" cy="14288"/>
          </a:xfrm>
          <a:prstGeom prst="roundRect">
            <a:avLst>
              <a:gd name="adj" fmla="val 795320"/>
            </a:avLst>
          </a:prstGeom>
          <a:solidFill>
            <a:srgbClr val="B5C1E2"/>
          </a:solidFill>
          <a:ln/>
        </p:spPr>
      </p:sp>
      <p:sp>
        <p:nvSpPr>
          <p:cNvPr id="15" name="Shape 13"/>
          <p:cNvSpPr/>
          <p:nvPr/>
        </p:nvSpPr>
        <p:spPr>
          <a:xfrm>
            <a:off x="4429981" y="2400077"/>
            <a:ext cx="284038" cy="284038"/>
          </a:xfrm>
          <a:prstGeom prst="roundRect">
            <a:avLst>
              <a:gd name="adj" fmla="val 40007"/>
            </a:avLst>
          </a:prstGeom>
          <a:solidFill>
            <a:srgbClr val="CFDBFC"/>
          </a:solidFill>
          <a:ln w="4763">
            <a:solidFill>
              <a:srgbClr val="B5C1E2"/>
            </a:solidFill>
            <a:prstDash val="solid"/>
          </a:ln>
          <a:effectLst>
            <a:outerShdw blurRad="101600" dist="16510" dir="2700000" algn="bl" rotWithShape="0">
              <a:srgbClr val="B5C1E2">
                <a:alpha val="10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477271" y="2423703"/>
            <a:ext cx="189384" cy="2367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3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96119" y="2443460"/>
            <a:ext cx="3444627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🔍</a:t>
            </a:r>
            <a:r>
              <a:rPr lang="en-US" sz="12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 Knowledge Repository Search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6119" y="2708151"/>
            <a:ext cx="3444627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26000"/>
              </a:lnSpc>
              <a:buNone/>
            </a:pPr>
            <a:r>
              <a:rPr lang="en-US" sz="9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Full-text search across all approved decisions.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99732" y="3174057"/>
            <a:ext cx="378768" cy="14288"/>
          </a:xfrm>
          <a:prstGeom prst="roundRect">
            <a:avLst>
              <a:gd name="adj" fmla="val 795320"/>
            </a:avLst>
          </a:prstGeom>
          <a:solidFill>
            <a:srgbClr val="B5C1E2"/>
          </a:solidFill>
          <a:ln/>
        </p:spPr>
      </p:sp>
      <p:sp>
        <p:nvSpPr>
          <p:cNvPr id="20" name="Shape 18"/>
          <p:cNvSpPr/>
          <p:nvPr/>
        </p:nvSpPr>
        <p:spPr>
          <a:xfrm>
            <a:off x="4429981" y="3039219"/>
            <a:ext cx="284038" cy="284038"/>
          </a:xfrm>
          <a:prstGeom prst="roundRect">
            <a:avLst>
              <a:gd name="adj" fmla="val 40007"/>
            </a:avLst>
          </a:prstGeom>
          <a:solidFill>
            <a:srgbClr val="CFDBFC"/>
          </a:solidFill>
          <a:ln w="4763">
            <a:solidFill>
              <a:srgbClr val="B5C1E2"/>
            </a:solidFill>
            <a:prstDash val="solid"/>
          </a:ln>
          <a:effectLst>
            <a:outerShdw blurRad="101600" dist="16510" dir="2700000" algn="bl" rotWithShape="0">
              <a:srgbClr val="B5C1E2">
                <a:alpha val="10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477271" y="3062846"/>
            <a:ext cx="189384" cy="2367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4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5203254" y="3082603"/>
            <a:ext cx="3444627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📊</a:t>
            </a:r>
            <a:r>
              <a:rPr lang="en-US" sz="12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 Reports &amp; Export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203254" y="3347293"/>
            <a:ext cx="3444627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PDF and Excel output for decision summaries.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065501" y="3813200"/>
            <a:ext cx="378768" cy="14288"/>
          </a:xfrm>
          <a:prstGeom prst="roundRect">
            <a:avLst>
              <a:gd name="adj" fmla="val 795320"/>
            </a:avLst>
          </a:prstGeom>
          <a:solidFill>
            <a:srgbClr val="B5C1E2"/>
          </a:solidFill>
          <a:ln/>
        </p:spPr>
      </p:sp>
      <p:sp>
        <p:nvSpPr>
          <p:cNvPr id="25" name="Shape 23"/>
          <p:cNvSpPr/>
          <p:nvPr/>
        </p:nvSpPr>
        <p:spPr>
          <a:xfrm>
            <a:off x="4429981" y="3678362"/>
            <a:ext cx="284038" cy="284038"/>
          </a:xfrm>
          <a:prstGeom prst="roundRect">
            <a:avLst>
              <a:gd name="adj" fmla="val 40007"/>
            </a:avLst>
          </a:prstGeom>
          <a:solidFill>
            <a:srgbClr val="CFDBFC"/>
          </a:solidFill>
          <a:ln w="4763">
            <a:solidFill>
              <a:srgbClr val="B5C1E2"/>
            </a:solidFill>
            <a:prstDash val="solid"/>
          </a:ln>
          <a:effectLst>
            <a:outerShdw blurRad="101600" dist="16510" dir="2700000" algn="bl" rotWithShape="0">
              <a:srgbClr val="B5C1E2">
                <a:alpha val="10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477271" y="3701988"/>
            <a:ext cx="189384" cy="2367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5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496119" y="3721745"/>
            <a:ext cx="3444627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🐳</a:t>
            </a:r>
            <a:r>
              <a:rPr lang="en-US" sz="12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 Docker Deployment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96119" y="3986436"/>
            <a:ext cx="3444627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26000"/>
              </a:lnSpc>
              <a:buNone/>
            </a:pPr>
            <a:r>
              <a:rPr lang="en-US" sz="9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Final containerized deployment + end-to-end testing pass.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CFDBFC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5842" y="380181"/>
            <a:ext cx="3287241" cy="43830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469032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Summary &amp; Thank You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496119" y="1124620"/>
            <a:ext cx="472276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EDRP transforms how organizations handle decisions — replacing informal, forgettable conversations with a structured, auditable, searchable system that builds institutional memory over time. Built end-to-end during a 3-month Infosys Springboard internship.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96119" y="2191345"/>
            <a:ext cx="4722763" cy="2096839"/>
          </a:xfrm>
          <a:prstGeom prst="roundRect">
            <a:avLst>
              <a:gd name="adj" fmla="val 6085"/>
            </a:avLst>
          </a:prstGeom>
          <a:solidFill>
            <a:srgbClr val="CFDBFC"/>
          </a:solidFill>
          <a:ln w="4763">
            <a:solidFill>
              <a:srgbClr val="B5C1E2"/>
            </a:solidFill>
            <a:prstDash val="solid"/>
          </a:ln>
          <a:effectLst>
            <a:outerShdw blurRad="101600" dist="17780" dir="2700000" algn="bl" rotWithShape="0">
              <a:srgbClr val="B5C1E2">
                <a:alpha val="10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00881" y="2196108"/>
            <a:ext cx="2356619" cy="1270471"/>
          </a:xfrm>
          <a:prstGeom prst="rect">
            <a:avLst/>
          </a:prstGeom>
          <a:solidFill>
            <a:srgbClr val="CFDBFC"/>
          </a:solidFill>
          <a:ln/>
        </p:spPr>
      </p:sp>
      <p:sp>
        <p:nvSpPr>
          <p:cNvPr id="8" name="Text 5"/>
          <p:cNvSpPr/>
          <p:nvPr/>
        </p:nvSpPr>
        <p:spPr>
          <a:xfrm>
            <a:off x="642640" y="2337867"/>
            <a:ext cx="207310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Backend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42640" y="2644378"/>
            <a:ext cx="2073101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FastAPI · PostgreSQL · SQLAlchemy · Alembic · Pydantic v2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857500" y="2196108"/>
            <a:ext cx="2356619" cy="1270471"/>
          </a:xfrm>
          <a:prstGeom prst="rect">
            <a:avLst/>
          </a:prstGeom>
          <a:solidFill>
            <a:srgbClr val="CFDBFC"/>
          </a:solidFill>
          <a:ln/>
        </p:spPr>
      </p:sp>
      <p:sp>
        <p:nvSpPr>
          <p:cNvPr id="11" name="Shape 8"/>
          <p:cNvSpPr/>
          <p:nvPr/>
        </p:nvSpPr>
        <p:spPr>
          <a:xfrm>
            <a:off x="2857500" y="2196108"/>
            <a:ext cx="19050" cy="1270471"/>
          </a:xfrm>
          <a:prstGeom prst="roundRect">
            <a:avLst>
              <a:gd name="adj" fmla="val 669768"/>
            </a:avLst>
          </a:prstGeom>
          <a:solidFill>
            <a:srgbClr val="B5C1E2"/>
          </a:solidFill>
          <a:ln/>
        </p:spPr>
      </p:sp>
      <p:sp>
        <p:nvSpPr>
          <p:cNvPr id="12" name="Text 9"/>
          <p:cNvSpPr/>
          <p:nvPr/>
        </p:nvSpPr>
        <p:spPr>
          <a:xfrm>
            <a:off x="2999259" y="2337867"/>
            <a:ext cx="207310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Auth &amp; Async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2999259" y="2644378"/>
            <a:ext cx="207310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JWT/OAuth2 · Redis · Celery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00881" y="3466579"/>
            <a:ext cx="4713238" cy="816843"/>
          </a:xfrm>
          <a:prstGeom prst="rect">
            <a:avLst/>
          </a:prstGeom>
          <a:solidFill>
            <a:srgbClr val="CFDBFC"/>
          </a:solidFill>
          <a:ln/>
        </p:spPr>
      </p:sp>
      <p:sp>
        <p:nvSpPr>
          <p:cNvPr id="15" name="Shape 12"/>
          <p:cNvSpPr/>
          <p:nvPr/>
        </p:nvSpPr>
        <p:spPr>
          <a:xfrm>
            <a:off x="500881" y="3466579"/>
            <a:ext cx="4713238" cy="19050"/>
          </a:xfrm>
          <a:prstGeom prst="roundRect">
            <a:avLst>
              <a:gd name="adj" fmla="val 669768"/>
            </a:avLst>
          </a:prstGeom>
          <a:solidFill>
            <a:srgbClr val="B5C1E2"/>
          </a:solidFill>
          <a:ln/>
        </p:spPr>
      </p:sp>
      <p:sp>
        <p:nvSpPr>
          <p:cNvPr id="16" name="Text 13"/>
          <p:cNvSpPr/>
          <p:nvPr/>
        </p:nvSpPr>
        <p:spPr>
          <a:xfrm>
            <a:off x="642640" y="3608338"/>
            <a:ext cx="442972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Frontend &amp; Infra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642640" y="3914849"/>
            <a:ext cx="44297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React.js · Docker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267519" y="4447654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666</Words>
  <Application>Microsoft Office PowerPoint</Application>
  <PresentationFormat>On-screen Show (16:9)</PresentationFormat>
  <Paragraphs>100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IBM Plex Sans</vt:lpstr>
      <vt:lpstr>Arial</vt:lpstr>
      <vt:lpstr>IBM Plex Sans Bold</vt:lpstr>
      <vt:lpstr>Outfit Medium</vt:lpstr>
      <vt:lpstr>Twemoji Mozilla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Vaibhav Ingle</cp:lastModifiedBy>
  <cp:revision>2</cp:revision>
  <dcterms:created xsi:type="dcterms:W3CDTF">2026-07-24T13:52:30Z</dcterms:created>
  <dcterms:modified xsi:type="dcterms:W3CDTF">2026-07-24T14:13:27Z</dcterms:modified>
</cp:coreProperties>
</file>